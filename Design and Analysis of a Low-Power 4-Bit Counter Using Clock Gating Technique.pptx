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77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1938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5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VLSI CITCUIT DESIGN</a:t>
            </a:r>
            <a:endParaRPr lang="en-US" sz="5600" dirty="0"/>
          </a:p>
          <a:p>
            <a:pPr algn="l">
              <a:lnSpc>
                <a:spcPct val="130000"/>
              </a:lnSpc>
            </a:pPr>
            <a:endParaRPr lang="en-US" sz="5600" dirty="0"/>
          </a:p>
          <a:p>
            <a:pPr algn="l">
              <a:lnSpc>
                <a:spcPct val="130000"/>
              </a:lnSpc>
            </a:pPr>
            <a:r>
              <a:rPr lang="en-US" sz="400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and Analysis of a Low-Power 4-Bit Counter Using Clock Gating Technique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62000" y="40132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61000"/>
            <a:ext cx="16256000" cy="3683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6070600"/>
            <a:ext cx="5926667" cy="58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Submitted By: Karthick 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5500" y="6574367"/>
            <a:ext cx="8276167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Used: Vivado 2025.2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0" y="7950200"/>
            <a:ext cx="533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VLSI</a:t>
            </a:r>
            <a:endParaRPr lang="en-US" sz="48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VLSI CIRCUIT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8000" y="1096433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270000"/>
            <a:ext cx="1473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Very Large Scale Integration (VLSI) technology enables the integration of millions of transistors onto a single chip. As circuit complexity increases, power consumption becomes a major concern in digital systems. Excessive power consumption leads to higher heat generation, reduced battery life, and lower system efficiency.</a:t>
            </a:r>
            <a:endParaRPr lang="en-US" sz="3200" dirty="0"/>
          </a:p>
          <a:p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overcome these challenges, low-power design techniques are widely used in modern VLSI circuits. In this project, a Clock Gating technique is implemented on a 4-bit counter to reduce dynamic power consumption by minimizing unnecessary switching activity.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VLSI CIRCUIT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833" y="304800"/>
            <a:ext cx="10943167" cy="6688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38667" y="1181100"/>
            <a:ext cx="15599833" cy="2066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338667" y="1635634"/>
            <a:ext cx="389996" cy="619819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338667" y="1635634"/>
            <a:ext cx="389996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6660" y="1635634"/>
            <a:ext cx="15001840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the major sources of power consumption in VLSI circuits.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38667" y="2462060"/>
            <a:ext cx="15599833" cy="2066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338667" y="2792630"/>
            <a:ext cx="389996" cy="619819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338667" y="2792630"/>
            <a:ext cx="389996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6660" y="2792630"/>
            <a:ext cx="15001840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 conventional 4-bit counter using Verilog HDL.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38667" y="3619056"/>
            <a:ext cx="15599833" cy="2066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667" y="3949626"/>
            <a:ext cx="389996" cy="619819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338667" y="3949626"/>
            <a:ext cx="389996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6660" y="3949626"/>
            <a:ext cx="15001840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Clock Gating as a low-power design technique.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338667" y="4776052"/>
            <a:ext cx="15599833" cy="2066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667" y="5106622"/>
            <a:ext cx="389996" cy="619819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20" name="Text 18"/>
          <p:cNvSpPr/>
          <p:nvPr/>
        </p:nvSpPr>
        <p:spPr>
          <a:xfrm>
            <a:off x="338667" y="5106622"/>
            <a:ext cx="389996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6660" y="5106622"/>
            <a:ext cx="15001840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 the circuit using Vivado.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338667" y="5933048"/>
            <a:ext cx="15599833" cy="2066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667" y="6263618"/>
            <a:ext cx="389996" cy="619819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4" name="Text 22"/>
          <p:cNvSpPr/>
          <p:nvPr/>
        </p:nvSpPr>
        <p:spPr>
          <a:xfrm>
            <a:off x="338667" y="6263618"/>
            <a:ext cx="389996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6660" y="6263618"/>
            <a:ext cx="15001840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and compare power consumption of both designs.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338667" y="7090043"/>
            <a:ext cx="15599833" cy="2066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667" y="7420614"/>
            <a:ext cx="389996" cy="619819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8" name="Text 26"/>
          <p:cNvSpPr/>
          <p:nvPr/>
        </p:nvSpPr>
        <p:spPr>
          <a:xfrm>
            <a:off x="338667" y="7420614"/>
            <a:ext cx="389996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6660" y="7420614"/>
            <a:ext cx="15001840" cy="619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 power optimization through reduced switching activity.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338667" y="8247039"/>
            <a:ext cx="15599833" cy="2066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71000" y="8149167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VLSI CIRCUIT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667" y="304800"/>
            <a:ext cx="1083733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Used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143000"/>
            <a:ext cx="7366000" cy="330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508000" y="1143000"/>
            <a:ext cx="5249333" cy="889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20800"/>
            <a:ext cx="2857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07533" y="24130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Tool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422400" y="3069167"/>
            <a:ext cx="695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Vivado 2025.2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382000" y="1143000"/>
            <a:ext cx="7366000" cy="3302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0" y="1143000"/>
            <a:ext cx="5207000" cy="10541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4" name="Text 12"/>
          <p:cNvSpPr/>
          <p:nvPr/>
        </p:nvSpPr>
        <p:spPr>
          <a:xfrm>
            <a:off x="8297333" y="1346200"/>
            <a:ext cx="321733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788400" y="24130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Description Language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96400" y="3069167"/>
            <a:ext cx="695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Verilog HDL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508000" y="4826000"/>
            <a:ext cx="7366000" cy="34925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508000" y="4826000"/>
            <a:ext cx="5249333" cy="9652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508000" y="495935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007533" y="59817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Technique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337733" y="6680200"/>
            <a:ext cx="695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Clock Gating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8382000" y="4826000"/>
            <a:ext cx="7366000" cy="34925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2000" y="4826000"/>
            <a:ext cx="5207000" cy="9652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4" name="Text 22"/>
          <p:cNvSpPr/>
          <p:nvPr/>
        </p:nvSpPr>
        <p:spPr>
          <a:xfrm>
            <a:off x="8788400" y="51308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915400" y="59817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Type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296400" y="6362700"/>
            <a:ext cx="695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4-Bit Binary Counter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915400" y="7061200"/>
            <a:ext cx="6959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Simulation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296400" y="7442200"/>
            <a:ext cx="695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3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Vivado Simulator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VLSI CIRCUIT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1667" y="114300"/>
            <a:ext cx="10964333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762000"/>
            <a:ext cx="7747000" cy="7366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8" name="Text 6"/>
          <p:cNvSpPr/>
          <p:nvPr/>
        </p:nvSpPr>
        <p:spPr>
          <a:xfrm>
            <a:off x="296333" y="762000"/>
            <a:ext cx="7958667" cy="651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Flow Steps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09600" y="1651000"/>
            <a:ext cx="330200" cy="330200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1651000"/>
            <a:ext cx="7061200" cy="719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7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a conventional 4-bit binary counter </a:t>
            </a:r>
            <a:endParaRPr lang="en-US" sz="2700" dirty="0"/>
          </a:p>
          <a:p>
            <a:pPr algn="l">
              <a:lnSpc>
                <a:spcPct val="120000"/>
              </a:lnSpc>
            </a:pPr>
            <a:r>
              <a:rPr lang="en-US" sz="2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</a:t>
            </a:r>
            <a:pPr algn="l">
              <a:lnSpc>
                <a:spcPct val="120000"/>
              </a:lnSpc>
            </a:pPr>
            <a:r>
              <a:rPr lang="en-US" sz="27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 verilog 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09600" y="2508653"/>
            <a:ext cx="342900" cy="296837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2657072"/>
            <a:ext cx="7188200" cy="982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Simulated the counter and verified its </a:t>
            </a:r>
            <a:endParaRPr lang="en-US" sz="3100" dirty="0"/>
          </a:p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counting operation.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609600" y="3589262"/>
            <a:ext cx="330200" cy="360438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1130300" y="3848100"/>
            <a:ext cx="7188200" cy="982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Clock Gating using an</a:t>
            </a:r>
            <a:endParaRPr lang="en-US" sz="3100" dirty="0"/>
          </a:p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signal.</a:t>
            </a:r>
            <a:endParaRPr lang="en-US" sz="3100" dirty="0"/>
          </a:p>
        </p:txBody>
      </p:sp>
      <p:sp>
        <p:nvSpPr>
          <p:cNvPr id="15" name="Shape 13"/>
          <p:cNvSpPr/>
          <p:nvPr/>
        </p:nvSpPr>
        <p:spPr>
          <a:xfrm>
            <a:off x="609600" y="4932740"/>
            <a:ext cx="330200" cy="362353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5038574"/>
            <a:ext cx="7188200" cy="982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the low-power clock-gated</a:t>
            </a:r>
            <a:endParaRPr lang="en-US" sz="3100" dirty="0"/>
          </a:p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counter.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609600" y="6240538"/>
            <a:ext cx="330200" cy="324253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6240538"/>
            <a:ext cx="7188200" cy="982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Performed behavioral simulation and </a:t>
            </a:r>
            <a:endParaRPr lang="en-US" sz="3100" dirty="0"/>
          </a:p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functionality.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609600" y="7520617"/>
            <a:ext cx="330200" cy="388056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7223276"/>
            <a:ext cx="7188200" cy="982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power reports using Vivado.</a:t>
            </a:r>
            <a:endParaRPr lang="en-US" sz="3100" dirty="0"/>
          </a:p>
        </p:txBody>
      </p:sp>
      <p:sp>
        <p:nvSpPr>
          <p:cNvPr id="21" name="Shape 19"/>
          <p:cNvSpPr/>
          <p:nvPr/>
        </p:nvSpPr>
        <p:spPr>
          <a:xfrm>
            <a:off x="609600" y="8288161"/>
            <a:ext cx="330200" cy="364873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7979229"/>
            <a:ext cx="7188200" cy="982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1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Compared power consumption between conventional and clock-gated designs.</a:t>
            </a:r>
            <a:endParaRPr lang="en-US" sz="3100" dirty="0"/>
          </a:p>
        </p:txBody>
      </p:sp>
      <p:sp>
        <p:nvSpPr>
          <p:cNvPr id="23" name="Shape 21"/>
          <p:cNvSpPr/>
          <p:nvPr/>
        </p:nvSpPr>
        <p:spPr>
          <a:xfrm>
            <a:off x="8763000" y="762000"/>
            <a:ext cx="6794500" cy="7366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24" name="Text 22"/>
          <p:cNvSpPr/>
          <p:nvPr/>
        </p:nvSpPr>
        <p:spPr>
          <a:xfrm>
            <a:off x="8509000" y="677333"/>
            <a:ext cx="7239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RTL &amp; Waveform Screenshots</a:t>
            </a:r>
            <a:endParaRPr lang="en-US" sz="2800" dirty="0"/>
          </a:p>
        </p:txBody>
      </p:sp>
      <p:pic>
        <p:nvPicPr>
          <p:cNvPr id="25" name="Image 0" descr="https://kimi-img.moonshot.cn/pub/slides/okc/eougpj733upbs/mnt/agents/output/low_power_counter/images/rtl_coun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85150" y="1651000"/>
            <a:ext cx="3975100" cy="2603500"/>
          </a:xfrm>
          <a:prstGeom prst="roundRect">
            <a:avLst>
              <a:gd name="adj" fmla="val 4000"/>
            </a:avLst>
          </a:prstGeom>
        </p:spPr>
      </p:pic>
      <p:sp>
        <p:nvSpPr>
          <p:cNvPr id="26" name="Text 23"/>
          <p:cNvSpPr/>
          <p:nvPr/>
        </p:nvSpPr>
        <p:spPr>
          <a:xfrm>
            <a:off x="8763000" y="4445000"/>
            <a:ext cx="3403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RTL - Conventional Counter</a:t>
            </a:r>
            <a:endParaRPr lang="en-US" sz="1800" dirty="0"/>
          </a:p>
        </p:txBody>
      </p:sp>
      <p:pic>
        <p:nvPicPr>
          <p:cNvPr id="27" name="Image 1" descr="https://kimi-img.moonshot.cn/pub/slides/okc/eougpj733upbs/mnt/agents/output/low_power_counter/images/clock_gated_rt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344400" y="1816100"/>
            <a:ext cx="3403600" cy="2328333"/>
          </a:xfrm>
          <a:prstGeom prst="roundRect">
            <a:avLst>
              <a:gd name="adj" fmla="val 4000"/>
            </a:avLst>
          </a:prstGeom>
        </p:spPr>
      </p:pic>
      <p:sp>
        <p:nvSpPr>
          <p:cNvPr id="28" name="Text 24"/>
          <p:cNvSpPr/>
          <p:nvPr/>
        </p:nvSpPr>
        <p:spPr>
          <a:xfrm>
            <a:off x="12471400" y="4318000"/>
            <a:ext cx="3403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RTL - Clock-Gated Counter</a:t>
            </a:r>
            <a:endParaRPr lang="en-US" sz="1800" dirty="0"/>
          </a:p>
        </p:txBody>
      </p:sp>
      <p:pic>
        <p:nvPicPr>
          <p:cNvPr id="29" name="Image 2" descr="https://kimi-img.moonshot.cn/pub/slides/okc/eougpj733upbs/mnt/agents/output/low_power_counter/images/counter_wavefor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5000" y="4932740"/>
            <a:ext cx="3905250" cy="2370667"/>
          </a:xfrm>
          <a:prstGeom prst="roundRect">
            <a:avLst>
              <a:gd name="adj" fmla="val 4000"/>
            </a:avLst>
          </a:prstGeom>
        </p:spPr>
      </p:pic>
      <p:sp>
        <p:nvSpPr>
          <p:cNvPr id="30" name="Text 25"/>
          <p:cNvSpPr/>
          <p:nvPr/>
        </p:nvSpPr>
        <p:spPr>
          <a:xfrm>
            <a:off x="8636000" y="7587645"/>
            <a:ext cx="3403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Waveform - Conventional Counter</a:t>
            </a:r>
            <a:endParaRPr lang="en-US" sz="1800" dirty="0"/>
          </a:p>
        </p:txBody>
      </p:sp>
      <p:pic>
        <p:nvPicPr>
          <p:cNvPr id="31" name="Image 3" descr="https://kimi-img.moonshot.cn/pub/slides/okc/eougpj733upbs/mnt/agents/output/low_power_counter/images/clock_gated_waveform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471400" y="5038574"/>
            <a:ext cx="3403600" cy="2222500"/>
          </a:xfrm>
          <a:prstGeom prst="roundRect">
            <a:avLst>
              <a:gd name="adj" fmla="val 4000"/>
            </a:avLst>
          </a:prstGeom>
        </p:spPr>
      </p:pic>
      <p:sp>
        <p:nvSpPr>
          <p:cNvPr id="32" name="Text 26"/>
          <p:cNvSpPr/>
          <p:nvPr/>
        </p:nvSpPr>
        <p:spPr>
          <a:xfrm>
            <a:off x="12556067" y="7520617"/>
            <a:ext cx="3403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Waveform - Clock-Gated Counter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2159000" y="2518833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VLSI CIRCUIT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5167" y="203200"/>
            <a:ext cx="1090083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/ Result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508000" y="842433"/>
            <a:ext cx="7701935" cy="322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1. Power Analysis Results Comparison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23392"/>
          <a:ext cx="7958667" cy="4483141"/>
        </p:xfrm>
        <a:graphic>
          <a:graphicData uri="http://schemas.openxmlformats.org/drawingml/2006/table">
            <a:tbl>
              <a:tblPr/>
              <a:tblGrid>
                <a:gridCol w="3183467"/>
                <a:gridCol w="2387600"/>
                <a:gridCol w="2387600"/>
              </a:tblGrid>
              <a:tr h="113031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Conventional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Clock-Gated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11303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Dynamic Power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3.766 W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0.000 W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3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Static Power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0.089 W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C2C2C"/>
                          </a:solidFill>
                        </a:rPr>
                        <a:t>0.079 W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09221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Total Power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3.855 W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C2C2C"/>
                          </a:solidFill>
                        </a:rPr>
                        <a:t>0.079 W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042400" y="1305983"/>
            <a:ext cx="7141633" cy="1032933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10" name="Text 7"/>
          <p:cNvSpPr/>
          <p:nvPr/>
        </p:nvSpPr>
        <p:spPr>
          <a:xfrm>
            <a:off x="8957733" y="1710267"/>
            <a:ext cx="698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Report Screenshots</a:t>
            </a:r>
            <a:endParaRPr lang="en-US" sz="2500" dirty="0"/>
          </a:p>
        </p:txBody>
      </p:sp>
      <p:pic>
        <p:nvPicPr>
          <p:cNvPr id="11" name="Image 0" descr="https://kimi-img.moonshot.cn/pub/slides/okc/eougpj733upbs/mnt/agents/output/low_power_counter/images/power_norm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31300" y="2413000"/>
            <a:ext cx="3403600" cy="2942167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8"/>
          <p:cNvSpPr/>
          <p:nvPr/>
        </p:nvSpPr>
        <p:spPr>
          <a:xfrm>
            <a:off x="9209617" y="5477933"/>
            <a:ext cx="3403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Conventional Counter Power</a:t>
            </a:r>
            <a:endParaRPr lang="en-US" sz="1900" dirty="0"/>
          </a:p>
        </p:txBody>
      </p:sp>
      <p:pic>
        <p:nvPicPr>
          <p:cNvPr id="13" name="Image 1" descr="https://kimi-img.moonshot.cn/pub/slides/okc/eougpj733upbs/mnt/agents/output/low_power_counter/images/power_clock_gat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697883" y="2508250"/>
            <a:ext cx="3403600" cy="2846917"/>
          </a:xfrm>
          <a:prstGeom prst="roundRect">
            <a:avLst>
              <a:gd name="adj" fmla="val 4000"/>
            </a:avLst>
          </a:prstGeom>
        </p:spPr>
      </p:pic>
      <p:sp>
        <p:nvSpPr>
          <p:cNvPr id="14" name="Text 9"/>
          <p:cNvSpPr/>
          <p:nvPr/>
        </p:nvSpPr>
        <p:spPr>
          <a:xfrm>
            <a:off x="12623800" y="5477933"/>
            <a:ext cx="3403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Clock-Gated Counter Power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45583" y="5892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Observation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589935" y="6396567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2"/>
          <p:cNvSpPr/>
          <p:nvPr/>
        </p:nvSpPr>
        <p:spPr>
          <a:xfrm>
            <a:off x="589935" y="6510867"/>
            <a:ext cx="15158065" cy="855133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8" name="Text 13"/>
          <p:cNvSpPr/>
          <p:nvPr/>
        </p:nvSpPr>
        <p:spPr>
          <a:xfrm>
            <a:off x="1016000" y="6659033"/>
            <a:ext cx="1473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clock-gated counter significantly reduced switching activity and achieved approximately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97.95% reduction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total power consumption.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45583" y="7518400"/>
            <a:ext cx="4826000" cy="127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16000" y="7696200"/>
            <a:ext cx="441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Conventional Counter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016000" y="8001000"/>
            <a:ext cx="44196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3.855 W</a:t>
            </a:r>
            <a:endParaRPr lang="en-US" sz="3200" dirty="0"/>
          </a:p>
        </p:txBody>
      </p:sp>
      <p:sp>
        <p:nvSpPr>
          <p:cNvPr id="22" name="Shape 17"/>
          <p:cNvSpPr/>
          <p:nvPr/>
        </p:nvSpPr>
        <p:spPr>
          <a:xfrm>
            <a:off x="5850467" y="7518400"/>
            <a:ext cx="4826000" cy="127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34100" y="7696200"/>
            <a:ext cx="441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4CAF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Clock-Gated Counter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256867" y="8001000"/>
            <a:ext cx="44196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4CAF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0.079 W</a:t>
            </a:r>
            <a:endParaRPr lang="en-US" sz="3200" dirty="0"/>
          </a:p>
        </p:txBody>
      </p:sp>
      <p:sp>
        <p:nvSpPr>
          <p:cNvPr id="25" name="Shape 20"/>
          <p:cNvSpPr/>
          <p:nvPr/>
        </p:nvSpPr>
        <p:spPr>
          <a:xfrm>
            <a:off x="10922000" y="7518400"/>
            <a:ext cx="4826000" cy="127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26" name="Text 21"/>
          <p:cNvSpPr/>
          <p:nvPr/>
        </p:nvSpPr>
        <p:spPr>
          <a:xfrm>
            <a:off x="11176000" y="7696200"/>
            <a:ext cx="441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Reduction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11328400" y="8001000"/>
            <a:ext cx="44196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97.95%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2434167" y="8593667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4572000" y="6921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VLSI CIRCUIT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71500" y="1096433"/>
            <a:ext cx="15240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270000"/>
            <a:ext cx="1473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project successfully demonstrated the implementation of a low-power VLSI design using the Clock Gating technique. A conventional 4-bit counter and a clock-gated counter were designed and simulated using Verilog HDL in Vivado. Power analysis showed a substantial reduction in dynamic power consumption, proving the effectiveness of clock gating as a low-power optimization technique. This approach can be applied to larger digital systems to improve energy efficiency and overall performance.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8000" y="5101167"/>
            <a:ext cx="4605867" cy="2159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9" name="Text 7"/>
          <p:cNvSpPr/>
          <p:nvPr/>
        </p:nvSpPr>
        <p:spPr>
          <a:xfrm>
            <a:off x="711200" y="5359400"/>
            <a:ext cx="42418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Clock Gating Proven Effective</a:t>
            </a:r>
            <a:endParaRPr lang="en-US" sz="19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power reduced from 3.766 W to 0.000 W through controlled clock distribution.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803900" y="5101167"/>
            <a:ext cx="4648200" cy="2159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6007100" y="5359400"/>
            <a:ext cx="42418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97.95% Power Savings</a:t>
            </a:r>
            <a:endParaRPr lang="en-US" sz="21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power consumption dropped from 3.855 W to just 0.079 W.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099800" y="5101167"/>
            <a:ext cx="4648200" cy="2159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11303000" y="5359400"/>
            <a:ext cx="42418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to Larger Systems</a:t>
            </a:r>
            <a:endParaRPr lang="en-US" sz="21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approach can be applied to larger digital systems to improve energy efficiency.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08000" y="7852833"/>
            <a:ext cx="15240000" cy="1007533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5500" y="8001000"/>
            <a:ext cx="1473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1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Summary:</a:t>
            </a:r>
            <a:pPr algn="l">
              <a:lnSpc>
                <a:spcPct val="150000"/>
              </a:lnSpc>
            </a:pPr>
            <a:r>
              <a:rPr lang="en-US" sz="210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Clock Gating is a simple yet powerful technique for reducing dynamic power in synchronous digital circuits, making it essential for modern low-power VLSI design.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530667" y="825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0000"/>
            <a:ext cx="16256000" cy="4064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Text 2"/>
          <p:cNvSpPr/>
          <p:nvPr/>
        </p:nvSpPr>
        <p:spPr>
          <a:xfrm>
            <a:off x="719667" y="867833"/>
            <a:ext cx="14520333" cy="2595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016000" y="3251200"/>
            <a:ext cx="14224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5727700"/>
            <a:ext cx="6688667" cy="6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6F9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Karthick 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0" y="6506633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9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VLSI Circuit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7112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9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 Used - Vivado 2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6F9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025.2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5562600"/>
            <a:ext cx="1016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 Low-Power 4-Bit Counter Using Clock Gating Technique</dc:title>
  <dc:subject>Design and Analysis of a Low-Power 4-Bit Counter Using Clock Gating Technique</dc:subject>
  <dc:creator>Kimi</dc:creator>
  <cp:lastModifiedBy>Kimi</cp:lastModifiedBy>
  <cp:revision>1</cp:revision>
  <dcterms:created xsi:type="dcterms:W3CDTF">2026-06-13T18:28:08Z</dcterms:created>
  <dcterms:modified xsi:type="dcterms:W3CDTF">2026-06-13T18:28:08Z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{"Label":"Design and Analysis of a Low-Power 4-Bit Counter Using Clock Gating Technique","ContentProducer":"001191110108MACG2KBH8F10000","ProduceID":"19ec20f7-ff32-8bfe-8000-0000dfbef909","ReservedCode1":"","ContentPropagator":"001191110108MACG2KBH8F20000","PropagateID":"19ec20d5-f3c2-8d68-8000-09fcd9004ac7","ReservedCode2":""}</vt:lpwstr>
  </property>
</Properties>
</file>